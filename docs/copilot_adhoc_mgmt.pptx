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501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Top-management version. Proposal: adapt the approved M365 cloud Copilot to speed up ad-hoc data extraction and build a durable team knowledge base (DEKP repository).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is opportunity, not blame: the current state is how the practice evolved. Constraints on the right are presented as already solved by disciplined workarounds. Cite My Hub art. 473301 if asked about restrictions.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seven steps. Step 3: DEKP-first is the long-term clean route; attaching prior SQLs is the quick route the team uses today — every solved ticket shifts the balance toward the repository. Step 5 loops back to step 4 until conclusive.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“what is really this DEKP?”: think of it as the case file of a solved request — generated at the moment of solving, in a fixed structure, readable by colleagues and by AI tools alike. Unlike documentation written afterwards, it is a by-product of work already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Vs other storage (spoken): email threads and personal notes are person-bound and unsearchable; Word/Excel trackers are heavy and ground poorly in AI tools; wikis need curation. The DEKP is self-contained per ticket, aggregates automatically, and serves human and machine readers from one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pack is not primarily a SQL-generation tool: it is a SQL analysis + metadata discovery + knowledge preservation + session reconstruction framework. Prompts encode team experience so every member gets consistent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benefits (spoken): reduces repeated metadata discovery; improves SQL quality from proven knowledge; preserves debugging experience; faster analyst onboarding; a repository that survives chat-history cleanup. Honest framing: the harvester is a small local Python script — the one modest addition to the zero-tooling story, positioned as interim until the shared repository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Benefits stay qualitative by design; measure actuals during the pilot. Stress the disclaimer as following firm guidance, not weakness. The ask: agreement to pilot on live tickets.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wider lesson: knowledge written where AI can read it compounds; knowledge in heads and notebooks evaporates. A personal-productivity takeaway the team can adopt tomorrow, independent of the reporting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myhub.ubs.net/assist/articles/473301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lmstxt.or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hyperlink" Target="https://myhub.ubs.net/assist/articles/473301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2834640"/>
            <a:ext cx="2926080" cy="2926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3E3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1234440"/>
            <a:ext cx="1783080" cy="1783080"/>
          </a:xfrm>
          <a:prstGeom prst="ellipse">
            <a:avLst/>
          </a:prstGeom>
          <a:solidFill>
            <a:srgbClr val="E60000"/>
          </a:solidFill>
          <a:ln/>
        </p:spPr>
      </p:sp>
      <p:sp>
        <p:nvSpPr>
          <p:cNvPr id="4" name="Shape 2"/>
          <p:cNvSpPr/>
          <p:nvPr/>
        </p:nvSpPr>
        <p:spPr>
          <a:xfrm>
            <a:off x="9006840" y="498348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Ad-hoc Reporting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82296" cy="1783080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93392"/>
            <a:ext cx="8092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adaptation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ad-hoc report request quick resolution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the M365 cloud Copilot to accelerate DB2 SQL composition —</a:t>
            </a:r>
            <a:endParaRPr lang="en-US" sz="15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to turn every solved request into reusable extraction knowledge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Ad-hoc Reporting Team   |   August 2026   |   Internal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UBS My Hub — "Understanding M365 Copilot limitations and restrictions" (art. 473301)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64008" cy="8412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3657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we are addressing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experience-based reporting into a knowledge-driven practice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 today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1901952"/>
            <a:ext cx="402336" cy="402336"/>
          </a:xfrm>
          <a:prstGeom prst="ellipse">
            <a:avLst/>
          </a:prstGeom>
          <a:solidFill>
            <a:srgbClr val="E60000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1" y="1998513"/>
            <a:ext cx="209215" cy="2092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8470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lives in experience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97280" y="213969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logic is carried in past SQLs and analyst experience rather than a searchable reference — ready to be captured as a shared asset.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816352"/>
            <a:ext cx="402336" cy="402336"/>
          </a:xfrm>
          <a:prstGeom prst="ellipse">
            <a:avLst/>
          </a:prstGeom>
          <a:solidFill>
            <a:srgbClr val="E6000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01" y="2912913"/>
            <a:ext cx="209215" cy="2092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7614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request starts fresh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097280" y="305409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 and their relationships are re-derived for each new set of conditions — effort that can be reused instead of repeated.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730752"/>
            <a:ext cx="402336" cy="402336"/>
          </a:xfrm>
          <a:prstGeom prst="ellipse">
            <a:avLst/>
          </a:prstGeom>
          <a:solidFill>
            <a:srgbClr val="E6000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201" y="3827313"/>
            <a:ext cx="209215" cy="20921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6758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are rebuilt, not retrieved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097280" y="396849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&amp; how explanations on record inclusion / exclusion are reconstructed each time — recorded once, they become instant.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645152"/>
            <a:ext cx="402336" cy="402336"/>
          </a:xfrm>
          <a:prstGeom prst="ellipse">
            <a:avLst/>
          </a:prstGeom>
          <a:solidFill>
            <a:srgbClr val="E6000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201" y="4741713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45902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 depends on individuals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097280" y="488289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Follow-ups and change requests need the original analyst’s recall — knowledge capture makes them anyone’s task.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144768" y="1554480"/>
            <a:ext cx="0" cy="393192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446520" y="14813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guardrails — already managed</a:t>
            </a:r>
            <a:endParaRPr lang="en-US" sz="1550" dirty="0"/>
          </a:p>
        </p:txBody>
      </p:sp>
      <p:sp>
        <p:nvSpPr>
          <p:cNvPr id="26" name="Shape 20"/>
          <p:cNvSpPr/>
          <p:nvPr/>
        </p:nvSpPr>
        <p:spPr>
          <a:xfrm>
            <a:off x="6446520" y="1901952"/>
            <a:ext cx="402336" cy="402336"/>
          </a:xfrm>
          <a:prstGeom prst="ellipse">
            <a:avLst/>
          </a:prstGeom>
          <a:solidFill>
            <a:srgbClr val="3D3D3D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2532" y="1997964"/>
            <a:ext cx="210312" cy="2103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95160" y="18288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file upload disabled in Copilot chat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995160" y="230428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files kept in SharePoint / OneDrive / Teams and shared into each session via links — per policy.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446520" y="2926080"/>
            <a:ext cx="402336" cy="402336"/>
          </a:xfrm>
          <a:prstGeom prst="ellipse">
            <a:avLst/>
          </a:prstGeom>
          <a:solidFill>
            <a:srgbClr val="3D3D3D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2532" y="3022092"/>
            <a:ext cx="210312" cy="2103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95160" y="285292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Zone: chats deleted within 24h — often within the hour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995160" y="332841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Milestone-based export: key points captured immediately, as DEKP markdown, during the session.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446520" y="3950208"/>
            <a:ext cx="402336" cy="402336"/>
          </a:xfrm>
          <a:prstGeom prst="ellipse">
            <a:avLst/>
          </a:prstGeom>
          <a:solidFill>
            <a:srgbClr val="3D3D3D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2532" y="4046220"/>
            <a:ext cx="210312" cy="21031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995160" y="387705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web or database connectivity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6995160" y="435254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reads only our curated SharePoint / Teams content; execution stays with the analyst.</a:t>
            </a:r>
            <a:endParaRPr lang="en-US" sz="105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5047488"/>
            <a:ext cx="237744" cy="23774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784848" y="501091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for Strictly Confidential data (with CID) — stored in divisional-approved locations only.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0" y="5715000"/>
            <a:ext cx="12188952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1" name="Text 31"/>
          <p:cNvSpPr/>
          <p:nvPr/>
        </p:nvSpPr>
        <p:spPr>
          <a:xfrm>
            <a:off x="548640" y="571500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gap to fix — an asset waiting to be built from work we already do every day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Ad-hoc Reporting Team  | 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64008" cy="8412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3657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— from ticket to knowledge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refined seven-step process, shaped through our POC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828800" y="2011680"/>
            <a:ext cx="8229600" cy="0"/>
          </a:xfrm>
          <a:prstGeom prst="line">
            <a:avLst/>
          </a:prstGeom>
          <a:noFill/>
          <a:ln w="19050">
            <a:solidFill>
              <a:srgbClr val="BFBFB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200400" y="4160520"/>
            <a:ext cx="5760720" cy="0"/>
          </a:xfrm>
          <a:prstGeom prst="line">
            <a:avLst/>
          </a:prstGeom>
          <a:noFill/>
          <a:ln w="19050">
            <a:solidFill>
              <a:srgbClr val="BFBFB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1539728" y="2697480"/>
            <a:ext cx="256032" cy="384048"/>
          </a:xfrm>
          <a:prstGeom prst="downArrow">
            <a:avLst/>
          </a:prstGeom>
          <a:solidFill>
            <a:srgbClr val="E6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1737360"/>
            <a:ext cx="548640" cy="5486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6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" y="239572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the ticket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2724912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Ad-hoc reporting request arrives as free text.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1737360"/>
            <a:ext cx="548640" cy="5486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6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73552" y="239572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requirements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73552" y="2724912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fields and selection criteria identified and documented.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1737360"/>
            <a:ext cx="548640" cy="5486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6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16752" y="239572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data understanding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16752" y="2724912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Preferred: DEKP repository — clean, long-term. Quick: attach prior SQLs — fast, but needs search &amp; prior knowledge.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784080" y="1737360"/>
            <a:ext cx="548640" cy="5486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6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59952" y="239572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&amp; validate SQL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59952" y="2724912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drafts; test runs against the DB; validated vs business expectations.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26080" y="3886200"/>
            <a:ext cx="548640" cy="5486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6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3913632"/>
            <a:ext cx="237744" cy="23774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901952" y="455371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refinement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901952" y="4882896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with step 4 until conclusive — capturing errors, assumptions, substitutions, deviations, decisions.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06440" y="3886200"/>
            <a:ext cx="548640" cy="5486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6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782312" y="455371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the DEKP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782312" y="4882896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summary, mappings, relationships, final SQL, validation outcomes, lessons learned.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8686800" y="3886200"/>
            <a:ext cx="548640" cy="5486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600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8680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662672" y="455371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the repository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662672" y="4882896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engagement adds a DEKP — improving mapping, SQL quality and troubleshooting.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0" y="5961888"/>
            <a:ext cx="12188952" cy="457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0" name="Text 37"/>
          <p:cNvSpPr/>
          <p:nvPr/>
        </p:nvSpPr>
        <p:spPr>
          <a:xfrm>
            <a:off x="548640" y="59618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growing DEKP repository turns individual requests into reusable organisational knowledge — reducing rework, accelerating delivery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Ad-hoc Reporting Team  | 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64008" cy="8412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3657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DEKP — Data Extraction Knowledge Package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idea for workplace efficiency — defined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5085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DEKP?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structured, self-contained knowledge artifact that consolidates everything defining one data extraction — the business context, the data elements and their relationships, the selection and transformation logic, the validated final query, and the assumptions, decisions and lessons behind them — into a single portable document readable by both people and machines. Filed collectively, such packages form a searchable knowledge repository that grows with use.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proven industry pattern</a:t>
            </a:r>
            <a:endParaRPr lang="en-US" sz="15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45536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3090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KCS — Knowledge-Centered Service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14400" y="336499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Support-industry standard: every resolved case produces or updates a knowledge article as a by-product of solving it.</a:t>
            </a:r>
            <a:endParaRPr lang="en-US" sz="10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142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4400" y="3959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Postmortems &amp; runbooks (SRE practice)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914400" y="423367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incident ends with a structured write-up of causes, fixes and lessons — the same problem is never solved twice.</a:t>
            </a:r>
            <a:endParaRPr lang="en-US" sz="10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88289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48280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 Records (ADR)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914400" y="510235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small structured file per significant decision, versioned with the work — the “why” survives the people.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492240" y="2743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package beats the usual places</a:t>
            </a:r>
            <a:endParaRPr lang="en-US" sz="15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127248"/>
          <a:ext cx="5120640" cy="20116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Captured at solve-time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Machine-readable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/ chat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 notes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person-bound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inconsistent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Trackers &amp; wikis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after-the-fact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DEKP repository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6"/>
          <p:cNvSpPr/>
          <p:nvPr/>
        </p:nvSpPr>
        <p:spPr>
          <a:xfrm>
            <a:off x="6492240" y="5257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Captured as a by-product of the work — not documentation written after the fact.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u="sng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Ref: llms.txt convention — llmstxt.org</a:t>
            </a:r>
            <a:r>
              <a:rPr lang="en-US" sz="850" u="sng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·   UBS My Hub art. 473301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64008" cy="8412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3657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DEKP in practice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package captures — and why markdown is the right container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151790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package captures</a:t>
            </a:r>
            <a:endParaRPr lang="en-US" sz="1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4767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91109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requirement summary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47802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44144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 mappings and table relationships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00837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297180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SQL with validation outcomes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53872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350215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Constants, substitutions and conversions applied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069080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403250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history and lessons learned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599432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14400" y="456285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&amp; how decisions on inclusion / exclusion of records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6144768" y="1600200"/>
            <a:ext cx="0" cy="347472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6400800" y="1517904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markdown — the AI-native format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6400800" y="193852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Proven, not exotic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6400800" y="2194560"/>
            <a:ext cx="5230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2004 the de facto standard for technical knowledge — Microsoft, Google and GitHub run their documentation on it.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6400800" y="276148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6400800" y="3017520"/>
            <a:ext cx="5230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are trained on vast markdown; headings and tables preserve meaning with far fewer tokens than Word or PDF.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6400800" y="358444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industry is heading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6400800" y="3840480"/>
            <a:ext cx="5230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emerging llms.txt convention publishes website content in markdown specifically for AI consumption.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6400800" y="440740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friction, zero cost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6400800" y="4663440"/>
            <a:ext cx="5230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text: versions cleanly in SharePoint, renders in Teams, fully searchable — no tooling or licence needed.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548640" y="5440680"/>
            <a:ext cx="3429000" cy="777240"/>
          </a:xfrm>
          <a:prstGeom prst="roundRect">
            <a:avLst>
              <a:gd name="adj" fmla="val 5882"/>
            </a:avLst>
          </a:prstGeom>
          <a:solidFill>
            <a:srgbClr val="F5F5F5"/>
          </a:solidFill>
          <a:ln/>
        </p:spPr>
      </p:sp>
      <p:sp>
        <p:nvSpPr>
          <p:cNvPr id="31" name="Text 23"/>
          <p:cNvSpPr/>
          <p:nvPr/>
        </p:nvSpPr>
        <p:spPr>
          <a:xfrm>
            <a:off x="731520" y="551383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solved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731520" y="58247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generates DEKP_&lt;id&gt;.md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4032504" y="5687568"/>
            <a:ext cx="292608" cy="274320"/>
          </a:xfrm>
          <a:prstGeom prst="rightArrow">
            <a:avLst/>
          </a:prstGeom>
          <a:solidFill>
            <a:srgbClr val="E60000"/>
          </a:solidFill>
          <a:ln/>
        </p:spPr>
      </p:sp>
      <p:sp>
        <p:nvSpPr>
          <p:cNvPr id="34" name="Shape 26"/>
          <p:cNvSpPr/>
          <p:nvPr/>
        </p:nvSpPr>
        <p:spPr>
          <a:xfrm>
            <a:off x="4379976" y="5440680"/>
            <a:ext cx="3429000" cy="777240"/>
          </a:xfrm>
          <a:prstGeom prst="roundRect">
            <a:avLst>
              <a:gd name="adj" fmla="val 5882"/>
            </a:avLst>
          </a:prstGeom>
          <a:solidFill>
            <a:srgbClr val="F5F5F5"/>
          </a:solidFill>
          <a:ln/>
        </p:spPr>
      </p:sp>
      <p:sp>
        <p:nvSpPr>
          <p:cNvPr id="35" name="Text 27"/>
          <p:cNvSpPr/>
          <p:nvPr/>
        </p:nvSpPr>
        <p:spPr>
          <a:xfrm>
            <a:off x="4562856" y="551383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4562856" y="58247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package added after every ticket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7863840" y="5687568"/>
            <a:ext cx="292608" cy="274320"/>
          </a:xfrm>
          <a:prstGeom prst="rightArrow">
            <a:avLst/>
          </a:prstGeom>
          <a:solidFill>
            <a:srgbClr val="E60000"/>
          </a:solidFill>
          <a:ln/>
        </p:spPr>
      </p:sp>
      <p:sp>
        <p:nvSpPr>
          <p:cNvPr id="38" name="Shape 30"/>
          <p:cNvSpPr/>
          <p:nvPr/>
        </p:nvSpPr>
        <p:spPr>
          <a:xfrm>
            <a:off x="8211312" y="5440680"/>
            <a:ext cx="3429000" cy="777240"/>
          </a:xfrm>
          <a:prstGeom prst="roundRect">
            <a:avLst>
              <a:gd name="adj" fmla="val 5882"/>
            </a:avLst>
          </a:prstGeom>
          <a:solidFill>
            <a:srgbClr val="E60000"/>
          </a:solidFill>
          <a:ln/>
        </p:spPr>
      </p:sp>
      <p:sp>
        <p:nvSpPr>
          <p:cNvPr id="39" name="Text 31"/>
          <p:cNvSpPr/>
          <p:nvPr/>
        </p:nvSpPr>
        <p:spPr>
          <a:xfrm>
            <a:off x="8394192" y="551383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Searchable metadata repository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8394192" y="58247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documentation, built by use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Ad-hoc Reporting Team  | 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64008" cy="8412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3657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pack — six standard prompts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SQL generation — analysis, metadata discovery, knowledge preservation and session reconstruction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3639312" cy="1847088"/>
          </a:xfrm>
          <a:prstGeom prst="roundRect">
            <a:avLst>
              <a:gd name="adj" fmla="val 297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642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719072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04825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START_SQL_DEKP_SESSION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2359152"/>
            <a:ext cx="3273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at ticket receipt — starts the reconstruction-grade recorder: evidence register, discovery journal, lineage from business terms to SQL.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79392" y="1572768"/>
            <a:ext cx="3639312" cy="1847088"/>
          </a:xfrm>
          <a:prstGeom prst="roundRect">
            <a:avLst>
              <a:gd name="adj" fmla="val 2970"/>
            </a:avLst>
          </a:prstGeom>
          <a:solidFill>
            <a:srgbClr val="F5F5F5"/>
          </a:solidFill>
          <a:ln/>
        </p:spPr>
      </p:sp>
      <p:sp>
        <p:nvSpPr>
          <p:cNvPr id="13" name="Text 10"/>
          <p:cNvSpPr/>
          <p:nvPr/>
        </p:nvSpPr>
        <p:spPr>
          <a:xfrm>
            <a:off x="4462272" y="16642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1719072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62272" y="204825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SQL_ANALYSIS_AND_GENERATION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462272" y="2359152"/>
            <a:ext cx="3273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working prompt — seven phases from source inventory and relationship catalogue to readiness assessment and versioned SQL (V001, V002 …).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010144" y="1572768"/>
            <a:ext cx="3639312" cy="1847088"/>
          </a:xfrm>
          <a:prstGeom prst="roundRect">
            <a:avLst>
              <a:gd name="adj" fmla="val 2970"/>
            </a:avLst>
          </a:prstGeom>
          <a:solidFill>
            <a:srgbClr val="F5F5F5"/>
          </a:solidFill>
          <a:ln/>
        </p:spPr>
      </p:sp>
      <p:sp>
        <p:nvSpPr>
          <p:cNvPr id="18" name="Text 14"/>
          <p:cNvSpPr/>
          <p:nvPr/>
        </p:nvSpPr>
        <p:spPr>
          <a:xfrm>
            <a:off x="8193024" y="16642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6536" y="171907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93024" y="204825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CHECKPOINT_DELTA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193024" y="2359152"/>
            <a:ext cx="3273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“save game” — run after each discovery, mapping, SQL change or failure; preserves complete state and an exact resume cursor.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8640" y="3584448"/>
            <a:ext cx="3639312" cy="1847088"/>
          </a:xfrm>
          <a:prstGeom prst="roundRect">
            <a:avLst>
              <a:gd name="adj" fmla="val 2970"/>
            </a:avLst>
          </a:prstGeom>
          <a:solidFill>
            <a:srgbClr val="F5F5F5"/>
          </a:solidFill>
          <a:ln/>
        </p:spPr>
      </p:sp>
      <p:sp>
        <p:nvSpPr>
          <p:cNvPr id="23" name="Text 18"/>
          <p:cNvSpPr/>
          <p:nvPr/>
        </p:nvSpPr>
        <p:spPr>
          <a:xfrm>
            <a:off x="731520" y="36758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5032" y="3730752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" y="405993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FINAL_DEKP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31520" y="4370832"/>
            <a:ext cx="3273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completion — consolidates requirements, mappings, SQL versions, errors, lessons learned and validation results into the final DEKP.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279392" y="3584448"/>
            <a:ext cx="3639312" cy="1847088"/>
          </a:xfrm>
          <a:prstGeom prst="roundRect">
            <a:avLst>
              <a:gd name="adj" fmla="val 2970"/>
            </a:avLst>
          </a:prstGeom>
          <a:solidFill>
            <a:srgbClr val="F5F5F5"/>
          </a:solidFill>
          <a:ln/>
        </p:spPr>
      </p:sp>
      <p:sp>
        <p:nvSpPr>
          <p:cNvPr id="28" name="Text 22"/>
          <p:cNvSpPr/>
          <p:nvPr/>
        </p:nvSpPr>
        <p:spPr>
          <a:xfrm>
            <a:off x="4462272" y="36758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784" y="3730752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462272" y="405993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RESUME_SQL_DEKP_SESSION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462272" y="4370832"/>
            <a:ext cx="3273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every new session — restores state, recovers pending actions and unresolved mappings, resumes at the exact cursor. The answer to the 24-hour purge.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8010144" y="3584448"/>
            <a:ext cx="3639312" cy="1847088"/>
          </a:xfrm>
          <a:prstGeom prst="roundRect">
            <a:avLst>
              <a:gd name="adj" fmla="val 2970"/>
            </a:avLst>
          </a:prstGeom>
          <a:solidFill>
            <a:srgbClr val="F5F5F5"/>
          </a:solidFill>
          <a:ln/>
        </p:spPr>
      </p:sp>
      <p:sp>
        <p:nvSpPr>
          <p:cNvPr id="33" name="Text 26"/>
          <p:cNvSpPr/>
          <p:nvPr/>
        </p:nvSpPr>
        <p:spPr>
          <a:xfrm>
            <a:off x="8193024" y="36758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9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46536" y="3730752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193024" y="405993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UPDATE_LATEST_JOURNAL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8193024" y="4370832"/>
            <a:ext cx="3273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maintenance — merges accumulated checkpoints into one “latest state” journal for long-running investigations.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548640" y="56509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discipline: start every ticket with 01  ·  checkpoint aggressively with 03  ·  a DEKP for every completed ticket  ·  never rely on chat history as the system of record.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548640" y="59436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structures in the appendix (slides 10–12); full texts version-controlled in the team’s shared folder.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Ad-hoc Reporting Team  | 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64008" cy="8412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3657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DEKP Harvester — consolidating knowledge at scale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lightweight Python utility that turns individual session artifacts into one team knowledge base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361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knowledge-ingestion utility that systematically extracts, normalises and indexes DEKPs, Delta checkpoints and journals — so valuable discoveries don’t remain isolated within individual tickets.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4086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384048" cy="384048"/>
          </a:xfrm>
          <a:prstGeom prst="ellipse">
            <a:avLst/>
          </a:prstGeom>
          <a:solidFill>
            <a:srgbClr val="E60000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2817084"/>
            <a:ext cx="199705" cy="19970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60704" y="2679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Harvests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60704" y="2953512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DEKP, Delta checkpoint and Journal markdown artifacts from participating analysts.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511296"/>
            <a:ext cx="384048" cy="384048"/>
          </a:xfrm>
          <a:prstGeom prst="ellipse">
            <a:avLst/>
          </a:prstGeom>
          <a:solidFill>
            <a:srgbClr val="E60000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3603468"/>
            <a:ext cx="199705" cy="19970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60704" y="34655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060704" y="3739896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discoveries, relationship &amp; business-term mappings, SQL patterns, lessons and validation records.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rgbClr val="E60000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4389852"/>
            <a:ext cx="199705" cy="19970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0704" y="4251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lineage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060704" y="4526280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→ evidence → mapping → final SQL, with errors and corrections intact.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5084064"/>
            <a:ext cx="384048" cy="384048"/>
          </a:xfrm>
          <a:prstGeom prst="ellipse">
            <a:avLst/>
          </a:prstGeom>
          <a:solidFill>
            <a:srgbClr val="E60000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2" y="5176236"/>
            <a:ext cx="199705" cy="19970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60704" y="5038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060704" y="5312664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bundled knowledge package — shared with the team and re-attached to Copilot as a common source.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537960" y="2651760"/>
            <a:ext cx="5074920" cy="896112"/>
          </a:xfrm>
          <a:prstGeom prst="roundRect">
            <a:avLst>
              <a:gd name="adj" fmla="val 5102"/>
            </a:avLst>
          </a:prstGeom>
          <a:solidFill>
            <a:srgbClr val="F5F5F5"/>
          </a:solidFill>
          <a:ln/>
        </p:spPr>
      </p:sp>
      <p:sp>
        <p:nvSpPr>
          <p:cNvPr id="27" name="Text 21"/>
          <p:cNvSpPr/>
          <p:nvPr/>
        </p:nvSpPr>
        <p:spPr>
          <a:xfrm>
            <a:off x="6739128" y="272491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739128" y="3017520"/>
            <a:ext cx="4672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DEKPs sit in individual OneDrive locations — learning depends on personal storage and manual sharing.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8947404" y="3566160"/>
            <a:ext cx="256032" cy="201168"/>
          </a:xfrm>
          <a:prstGeom prst="downArrow">
            <a:avLst/>
          </a:prstGeom>
          <a:solidFill>
            <a:srgbClr val="E60000"/>
          </a:solidFill>
          <a:ln/>
        </p:spPr>
      </p:sp>
      <p:sp>
        <p:nvSpPr>
          <p:cNvPr id="30" name="Shape 24"/>
          <p:cNvSpPr/>
          <p:nvPr/>
        </p:nvSpPr>
        <p:spPr>
          <a:xfrm>
            <a:off x="6537960" y="3785616"/>
            <a:ext cx="5074920" cy="896112"/>
          </a:xfrm>
          <a:prstGeom prst="roundRect">
            <a:avLst>
              <a:gd name="adj" fmla="val 5102"/>
            </a:avLst>
          </a:prstGeom>
          <a:solidFill>
            <a:srgbClr val="F5F5F5"/>
          </a:solidFill>
          <a:ln/>
        </p:spPr>
      </p:sp>
      <p:sp>
        <p:nvSpPr>
          <p:cNvPr id="31" name="Text 25"/>
          <p:cNvSpPr/>
          <p:nvPr/>
        </p:nvSpPr>
        <p:spPr>
          <a:xfrm>
            <a:off x="6739128" y="3858768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Interim — the Harvester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739128" y="4151376"/>
            <a:ext cx="4672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Python runs collect and merge analysts’ DEKPs into one bundle — nothing to install centrally.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8947404" y="4700016"/>
            <a:ext cx="256032" cy="201168"/>
          </a:xfrm>
          <a:prstGeom prst="downArrow">
            <a:avLst/>
          </a:prstGeom>
          <a:solidFill>
            <a:srgbClr val="E60000"/>
          </a:solidFill>
          <a:ln/>
        </p:spPr>
      </p:sp>
      <p:sp>
        <p:nvSpPr>
          <p:cNvPr id="34" name="Shape 28"/>
          <p:cNvSpPr/>
          <p:nvPr/>
        </p:nvSpPr>
        <p:spPr>
          <a:xfrm>
            <a:off x="6537960" y="4919472"/>
            <a:ext cx="5074920" cy="896112"/>
          </a:xfrm>
          <a:prstGeom prst="roundRect">
            <a:avLst>
              <a:gd name="adj" fmla="val 5102"/>
            </a:avLst>
          </a:prstGeom>
          <a:solidFill>
            <a:srgbClr val="E60000"/>
          </a:solidFill>
          <a:ln/>
        </p:spPr>
      </p:sp>
      <p:sp>
        <p:nvSpPr>
          <p:cNvPr id="35" name="Text 29"/>
          <p:cNvSpPr/>
          <p:nvPr/>
        </p:nvSpPr>
        <p:spPr>
          <a:xfrm>
            <a:off x="6739128" y="4992624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— shared repository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739128" y="5285232"/>
            <a:ext cx="4672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Centrally managed SharePoint / team OneDrive — stored and searched collectively.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0" y="5989320"/>
            <a:ext cx="12188952" cy="42062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8" name="Text 32"/>
          <p:cNvSpPr/>
          <p:nvPr/>
        </p:nvSpPr>
        <p:spPr>
          <a:xfrm>
            <a:off x="548640" y="5989320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isolated ticket discoveries to a durable metadata &amp; SQL intelligence layer for the team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Ad-hoc Reporting Team  | 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64008" cy="8412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3657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 — and how we start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gains, honest guardrails, and a first step we can take this week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gains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1847088"/>
            <a:ext cx="329184" cy="329184"/>
          </a:xfrm>
          <a:prstGeom prst="ellipse">
            <a:avLst/>
          </a:prstGeom>
          <a:solidFill>
            <a:srgbClr val="E60000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1926092"/>
            <a:ext cx="171176" cy="171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180136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install — </a:t>
            </a: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cloud Copilot on every desktop; knowledge in divisional-approved SharePoint. Compliant by design.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468880"/>
            <a:ext cx="329184" cy="329184"/>
          </a:xfrm>
          <a:prstGeom prst="ellipse">
            <a:avLst/>
          </a:prstGeom>
          <a:solidFill>
            <a:srgbClr val="E6000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44" y="2547884"/>
            <a:ext cx="171176" cy="171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42316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Considerably faster SQL composition — </a:t>
            </a: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in POC activities, even with multiple trial-and-error iterations.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090672"/>
            <a:ext cx="329184" cy="329184"/>
          </a:xfrm>
          <a:prstGeom prst="ellipse">
            <a:avLst/>
          </a:prstGeom>
          <a:solidFill>
            <a:srgbClr val="E6000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44" y="3169676"/>
            <a:ext cx="171176" cy="1711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304495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Better, versioned SQL — </a:t>
            </a: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V001…Vn drafts, optimised and readable as future references.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3712464"/>
            <a:ext cx="329184" cy="329184"/>
          </a:xfrm>
          <a:prstGeom prst="ellipse">
            <a:avLst/>
          </a:prstGeom>
          <a:solidFill>
            <a:srgbClr val="E60000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44" y="3791468"/>
            <a:ext cx="171176" cy="1711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366674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 beyond the 24-hour purge — </a:t>
            </a: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reconstruct from checkpoints; any teammate can resume.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4334256"/>
            <a:ext cx="329184" cy="329184"/>
          </a:xfrm>
          <a:prstGeom prst="ellipse">
            <a:avLst/>
          </a:prstGeom>
          <a:solidFill>
            <a:srgbClr val="E60000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644" y="4413260"/>
            <a:ext cx="171176" cy="17117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5840" y="428853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&amp; how answered from the record — </a:t>
            </a: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inclusion / exclusion logic on file replaces troubleshooting archaeology.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48640" y="4956048"/>
            <a:ext cx="329184" cy="329184"/>
          </a:xfrm>
          <a:prstGeom prst="ellipse">
            <a:avLst/>
          </a:prstGeom>
          <a:solidFill>
            <a:srgbClr val="E60000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644" y="5035052"/>
            <a:ext cx="171176" cy="17117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5840" y="491032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compounds — </a:t>
            </a: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completed ticket grows the DEKP repository: durable organisational memory.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6263640" y="1554480"/>
            <a:ext cx="0" cy="3931920"/>
          </a:xfrm>
          <a:prstGeom prst="line">
            <a:avLst/>
          </a:prstGeom>
          <a:noFill/>
          <a:ln w="15875">
            <a:solidFill>
              <a:srgbClr val="D9D9D9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53796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steps</a:t>
            </a:r>
            <a:endParaRPr lang="en-US" sz="1550" dirty="0"/>
          </a:p>
        </p:txBody>
      </p:sp>
      <p:sp>
        <p:nvSpPr>
          <p:cNvPr id="28" name="Shape 20"/>
          <p:cNvSpPr/>
          <p:nvPr/>
        </p:nvSpPr>
        <p:spPr>
          <a:xfrm>
            <a:off x="6537960" y="1883664"/>
            <a:ext cx="438912" cy="438912"/>
          </a:xfrm>
          <a:prstGeom prst="ellipse">
            <a:avLst/>
          </a:prstGeom>
          <a:solidFill>
            <a:srgbClr val="E60000"/>
          </a:solidFill>
          <a:ln/>
        </p:spPr>
      </p:sp>
      <p:sp>
        <p:nvSpPr>
          <p:cNvPr id="29" name="Text 21"/>
          <p:cNvSpPr/>
          <p:nvPr/>
        </p:nvSpPr>
        <p:spPr>
          <a:xfrm>
            <a:off x="6537960" y="1883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7114032" y="183794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the six-prompt pack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7114032" y="2121408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live tickets across the team.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537960" y="2816352"/>
            <a:ext cx="438912" cy="438912"/>
          </a:xfrm>
          <a:prstGeom prst="ellipse">
            <a:avLst/>
          </a:prstGeom>
          <a:solidFill>
            <a:srgbClr val="E60000"/>
          </a:solidFill>
          <a:ln/>
        </p:spPr>
      </p:sp>
      <p:sp>
        <p:nvSpPr>
          <p:cNvPr id="33" name="Text 25"/>
          <p:cNvSpPr/>
          <p:nvPr/>
        </p:nvSpPr>
        <p:spPr>
          <a:xfrm>
            <a:off x="6537960" y="2816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7114032" y="277063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&amp; DEKP every ticket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7114032" y="3054096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during the work, 04 at completion — always before the purge.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537960" y="3749040"/>
            <a:ext cx="438912" cy="438912"/>
          </a:xfrm>
          <a:prstGeom prst="ellipse">
            <a:avLst/>
          </a:prstGeom>
          <a:solidFill>
            <a:srgbClr val="E60000"/>
          </a:solidFill>
          <a:ln/>
        </p:spPr>
      </p:sp>
      <p:sp>
        <p:nvSpPr>
          <p:cNvPr id="37" name="Text 29"/>
          <p:cNvSpPr/>
          <p:nvPr/>
        </p:nvSpPr>
        <p:spPr>
          <a:xfrm>
            <a:off x="6537960" y="3749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7114032" y="370332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 the knowledge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7114032" y="3986784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interim: periodic DEKP Harvester runs; target: the shared SharePoint repository.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6537960" y="4681728"/>
            <a:ext cx="438912" cy="438912"/>
          </a:xfrm>
          <a:prstGeom prst="ellipse">
            <a:avLst/>
          </a:prstGeom>
          <a:solidFill>
            <a:srgbClr val="E60000"/>
          </a:solidFill>
          <a:ln/>
        </p:spPr>
      </p:sp>
      <p:sp>
        <p:nvSpPr>
          <p:cNvPr id="41" name="Text 33"/>
          <p:cNvSpPr/>
          <p:nvPr/>
        </p:nvSpPr>
        <p:spPr>
          <a:xfrm>
            <a:off x="6537960" y="4681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42" name="Text 34"/>
          <p:cNvSpPr/>
          <p:nvPr/>
        </p:nvSpPr>
        <p:spPr>
          <a:xfrm>
            <a:off x="7114032" y="463600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refine</a:t>
            </a:r>
            <a:endParaRPr lang="en-US" sz="1250" dirty="0"/>
          </a:p>
        </p:txBody>
      </p:sp>
      <p:sp>
        <p:nvSpPr>
          <p:cNvPr id="43" name="Text 35"/>
          <p:cNvSpPr/>
          <p:nvPr/>
        </p:nvSpPr>
        <p:spPr>
          <a:xfrm>
            <a:off x="7114032" y="4919472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pack and DEKP template versioned; learnings folded back each cycle.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548640" y="5742432"/>
            <a:ext cx="11091672" cy="621792"/>
          </a:xfrm>
          <a:prstGeom prst="roundRect">
            <a:avLst>
              <a:gd name="adj" fmla="val 8824"/>
            </a:avLst>
          </a:prstGeom>
          <a:solidFill>
            <a:srgbClr val="FCECEC"/>
          </a:solidFill>
          <a:ln/>
        </p:spPr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907024"/>
            <a:ext cx="292608" cy="29260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234440" y="57790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end-to-end automated solution — human in the loop.  </a:t>
            </a: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may make assumptions that differ from the analyst’s, or make mistakes; per firm guidance (My Hub art. 473301) every output is reviewed before use. POC activities nevertheless show the effort and time to build a clean SQL are considerably reduced.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Ad-hoc Reporting Team  | 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7572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64008" cy="841248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3657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idea — Copilot journaling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pattern applied to everything: write it where Copilot can read it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every task’s key information as it happens — in OneNote + Copilot or Word / markdown + Copilot — rather than in memory or a paper notebook. Routine note-taking becomes a queryable knowledge asset.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3639312" cy="1627632"/>
          </a:xfrm>
          <a:prstGeom prst="roundRect">
            <a:avLst>
              <a:gd name="adj" fmla="val 3371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560320"/>
            <a:ext cx="384048" cy="384048"/>
          </a:xfrm>
          <a:prstGeom prst="ellipse">
            <a:avLst/>
          </a:prstGeom>
          <a:solidFill>
            <a:srgbClr val="E60000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92" y="2652492"/>
            <a:ext cx="199705" cy="19970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43584" y="2542032"/>
            <a:ext cx="2770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searchable intellectual history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31520" y="3072384"/>
            <a:ext cx="3273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fades after a few days or goes missing the way paper notes do — every record stays findable.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279392" y="2395728"/>
            <a:ext cx="3639312" cy="1627632"/>
          </a:xfrm>
          <a:prstGeom prst="roundRect">
            <a:avLst>
              <a:gd name="adj" fmla="val 3371"/>
            </a:avLst>
          </a:prstGeom>
          <a:solidFill>
            <a:srgbClr val="F5F5F5"/>
          </a:solidFill>
          <a:ln/>
        </p:spPr>
      </p:sp>
      <p:sp>
        <p:nvSpPr>
          <p:cNvPr id="15" name="Shape 12"/>
          <p:cNvSpPr/>
          <p:nvPr/>
        </p:nvSpPr>
        <p:spPr>
          <a:xfrm>
            <a:off x="4462272" y="2560320"/>
            <a:ext cx="384048" cy="384048"/>
          </a:xfrm>
          <a:prstGeom prst="ellipse">
            <a:avLst/>
          </a:prstGeom>
          <a:solidFill>
            <a:srgbClr val="E60000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4444" y="2652492"/>
            <a:ext cx="199705" cy="19970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74336" y="2542032"/>
            <a:ext cx="2770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Ask, don’t dig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462272" y="3072384"/>
            <a:ext cx="3273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your own journal in plain language and get clear answers with context.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8010144" y="2395728"/>
            <a:ext cx="3639312" cy="1627632"/>
          </a:xfrm>
          <a:prstGeom prst="roundRect">
            <a:avLst>
              <a:gd name="adj" fmla="val 3371"/>
            </a:avLst>
          </a:prstGeom>
          <a:solidFill>
            <a:srgbClr val="F5F5F5"/>
          </a:solidFill>
          <a:ln/>
        </p:spPr>
      </p:sp>
      <p:sp>
        <p:nvSpPr>
          <p:cNvPr id="20" name="Shape 16"/>
          <p:cNvSpPr/>
          <p:nvPr/>
        </p:nvSpPr>
        <p:spPr>
          <a:xfrm>
            <a:off x="8193024" y="2560320"/>
            <a:ext cx="384048" cy="384048"/>
          </a:xfrm>
          <a:prstGeom prst="ellipse">
            <a:avLst/>
          </a:prstGeom>
          <a:solidFill>
            <a:srgbClr val="E60000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5196" y="2652492"/>
            <a:ext cx="199705" cy="19970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705088" y="2542032"/>
            <a:ext cx="2770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Follow-ups in seconds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193024" y="3072384"/>
            <a:ext cx="3273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decided, when and why is on record — no reconstruction from memory.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48640" y="4187952"/>
            <a:ext cx="3639312" cy="1627632"/>
          </a:xfrm>
          <a:prstGeom prst="roundRect">
            <a:avLst>
              <a:gd name="adj" fmla="val 3371"/>
            </a:avLst>
          </a:prstGeom>
          <a:solidFill>
            <a:srgbClr val="F5F5F5"/>
          </a:solidFill>
          <a:ln/>
        </p:spPr>
      </p:sp>
      <p:sp>
        <p:nvSpPr>
          <p:cNvPr id="25" name="Shape 20"/>
          <p:cNvSpPr/>
          <p:nvPr/>
        </p:nvSpPr>
        <p:spPr>
          <a:xfrm>
            <a:off x="731520" y="4352544"/>
            <a:ext cx="384048" cy="384048"/>
          </a:xfrm>
          <a:prstGeom prst="ellipse">
            <a:avLst/>
          </a:prstGeom>
          <a:solidFill>
            <a:srgbClr val="E60000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692" y="4444716"/>
            <a:ext cx="199705" cy="19970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43584" y="4334256"/>
            <a:ext cx="2770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reports in minutes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731520" y="4864608"/>
            <a:ext cx="3273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drafts them straight from the journal — the fastest route from work done to work reported.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279392" y="4187952"/>
            <a:ext cx="3639312" cy="1627632"/>
          </a:xfrm>
          <a:prstGeom prst="roundRect">
            <a:avLst>
              <a:gd name="adj" fmla="val 3371"/>
            </a:avLst>
          </a:prstGeom>
          <a:solidFill>
            <a:srgbClr val="F5F5F5"/>
          </a:solidFill>
          <a:ln/>
        </p:spPr>
      </p:sp>
      <p:sp>
        <p:nvSpPr>
          <p:cNvPr id="30" name="Shape 24"/>
          <p:cNvSpPr/>
          <p:nvPr/>
        </p:nvSpPr>
        <p:spPr>
          <a:xfrm>
            <a:off x="4462272" y="4352544"/>
            <a:ext cx="384048" cy="384048"/>
          </a:xfrm>
          <a:prstGeom prst="ellipse">
            <a:avLst/>
          </a:prstGeom>
          <a:solidFill>
            <a:srgbClr val="E60000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4444" y="4444716"/>
            <a:ext cx="199705" cy="19970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974336" y="4334256"/>
            <a:ext cx="2770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transfer, amplified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4462272" y="4864608"/>
            <a:ext cx="3273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handover stops being an hour of talking — the successor converses with the record itself.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8010144" y="4187952"/>
            <a:ext cx="3639312" cy="1627632"/>
          </a:xfrm>
          <a:prstGeom prst="roundRect">
            <a:avLst>
              <a:gd name="adj" fmla="val 3371"/>
            </a:avLst>
          </a:prstGeom>
          <a:solidFill>
            <a:srgbClr val="F5F5F5"/>
          </a:solidFill>
          <a:ln/>
        </p:spPr>
      </p:sp>
      <p:sp>
        <p:nvSpPr>
          <p:cNvPr id="35" name="Shape 28"/>
          <p:cNvSpPr/>
          <p:nvPr/>
        </p:nvSpPr>
        <p:spPr>
          <a:xfrm>
            <a:off x="8193024" y="4352544"/>
            <a:ext cx="384048" cy="384048"/>
          </a:xfrm>
          <a:prstGeom prst="ellipse">
            <a:avLst/>
          </a:prstGeom>
          <a:solidFill>
            <a:srgbClr val="E60000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5196" y="4444716"/>
            <a:ext cx="199705" cy="19970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705088" y="4334256"/>
            <a:ext cx="2770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tutor for new joiners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8193024" y="4864608"/>
            <a:ext cx="3273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Journals and DEKPs double as interactive training material — any question, any time, never tired.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0" y="6016752"/>
            <a:ext cx="12188952" cy="42062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0" name="Text 32"/>
          <p:cNvSpPr/>
          <p:nvPr/>
        </p:nvSpPr>
        <p:spPr>
          <a:xfrm>
            <a:off x="548640" y="6016752"/>
            <a:ext cx="1109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once, ask forever — every note becomes answerable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2207</Words>
  <Application>Microsoft Office PowerPoint</Application>
  <PresentationFormat>Widescreen</PresentationFormat>
  <Paragraphs>220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Arun Sadanandan</cp:lastModifiedBy>
  <cp:revision>2</cp:revision>
  <dcterms:created xsi:type="dcterms:W3CDTF">2026-08-28T01:15:08Z</dcterms:created>
  <dcterms:modified xsi:type="dcterms:W3CDTF">2026-08-28T01:50:04Z</dcterms:modified>
</cp:coreProperties>
</file>